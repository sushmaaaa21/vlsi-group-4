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64" r:id="rId5"/>
    <p:sldId id="261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9029" y="2372840"/>
            <a:ext cx="9102310" cy="3583940"/>
          </a:xfrm>
        </p:spPr>
        <p:txBody>
          <a:bodyPr/>
          <a:lstStyle/>
          <a:p>
            <a:r>
              <a:rPr 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Project title:</a:t>
            </a:r>
            <a:r>
              <a:rPr lang="en-US" sz="3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Gain, Noise, and Power Study using </a:t>
            </a:r>
            <a:r>
              <a:rPr lang="en-IN" altLang="en-US" sz="3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Cascode</a:t>
            </a:r>
            <a:r>
              <a:rPr lang="en-IN" alt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altLang="en-US" sz="3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Currect</a:t>
            </a:r>
            <a:r>
              <a:rPr lang="en-IN" alt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Mirrors</a:t>
            </a:r>
            <a:r>
              <a:rPr lang="en-US" altLang="en-US" sz="3600" b="1" dirty="0">
                <a:latin typeface="Calibri Light" panose="020F0302020204030204" charset="0"/>
                <a:cs typeface="Calibri Light" panose="020F0302020204030204" charset="0"/>
              </a:rPr>
              <a:t>.</a:t>
            </a:r>
          </a:p>
          <a:p>
            <a:endParaRPr lang="en-US" altLang="en-US" sz="2400" dirty="0">
              <a:latin typeface="Calibri Light" panose="020F0302020204030204" charset="0"/>
              <a:cs typeface="Calibri Light" panose="020F0302020204030204" charset="0"/>
            </a:endParaRPr>
          </a:p>
          <a:p>
            <a:r>
              <a:rPr lang="en-US" altLang="en-US" sz="2400" dirty="0">
                <a:latin typeface="Calibri Light" panose="020F0302020204030204" charset="0"/>
                <a:cs typeface="Calibri Light" panose="020F0302020204030204" charset="0"/>
              </a:rPr>
              <a:t>2310040060 – Sowmya</a:t>
            </a:r>
          </a:p>
          <a:p>
            <a:r>
              <a:rPr lang="en-US" altLang="en-US" sz="2400" dirty="0">
                <a:latin typeface="Calibri Light" panose="020F0302020204030204" charset="0"/>
                <a:cs typeface="Calibri Light" panose="020F0302020204030204" charset="0"/>
              </a:rPr>
              <a:t>2310040091 – </a:t>
            </a:r>
            <a:r>
              <a:rPr lang="en-US" altLang="en-US" sz="2400" dirty="0" err="1">
                <a:latin typeface="Calibri Light" panose="020F0302020204030204" charset="0"/>
                <a:cs typeface="Calibri Light" panose="020F0302020204030204" charset="0"/>
              </a:rPr>
              <a:t>N.Srija</a:t>
            </a:r>
            <a:endParaRPr lang="en-US" altLang="en-US" sz="2400" dirty="0">
              <a:latin typeface="Calibri Light" panose="020F0302020204030204" charset="0"/>
              <a:cs typeface="Calibri Light" panose="020F0302020204030204" charset="0"/>
            </a:endParaRPr>
          </a:p>
          <a:p>
            <a:r>
              <a:rPr lang="en-US" altLang="en-US" sz="2400" dirty="0">
                <a:latin typeface="Calibri Light" panose="020F0302020204030204" charset="0"/>
                <a:cs typeface="Calibri Light" panose="020F0302020204030204" charset="0"/>
              </a:rPr>
              <a:t>2310040112 – </a:t>
            </a:r>
            <a:r>
              <a:rPr lang="en-US" altLang="en-US" sz="2400" dirty="0" err="1">
                <a:latin typeface="Calibri Light" panose="020F0302020204030204" charset="0"/>
                <a:cs typeface="Calibri Light" panose="020F0302020204030204" charset="0"/>
              </a:rPr>
              <a:t>Sushma</a:t>
            </a:r>
            <a:endParaRPr lang="en-US" altLang="en-US" sz="2400" dirty="0">
              <a:latin typeface="Calibri Light" panose="020F0302020204030204" charset="0"/>
              <a:cs typeface="Calibri Light" panose="020F0302020204030204" charset="0"/>
            </a:endParaRPr>
          </a:p>
          <a:p>
            <a:r>
              <a:rPr lang="en-US" altLang="en-US" sz="2400" dirty="0">
                <a:latin typeface="Calibri Light" panose="020F0302020204030204" charset="0"/>
                <a:cs typeface="Calibri Light" panose="020F0302020204030204" charset="0"/>
              </a:rPr>
              <a:t>2310049143 – </a:t>
            </a:r>
            <a:r>
              <a:rPr lang="en-US" altLang="en-US" sz="2400" dirty="0" err="1">
                <a:latin typeface="Calibri Light" panose="020F0302020204030204" charset="0"/>
                <a:cs typeface="Calibri Light" panose="020F0302020204030204" charset="0"/>
              </a:rPr>
              <a:t>B.Srija</a:t>
            </a:r>
            <a:endParaRPr lang="en-US" altLang="en-US" sz="2400" dirty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77" y="979715"/>
            <a:ext cx="10730645" cy="527179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 dirty="0"/>
              <a:t> </a:t>
            </a:r>
            <a:r>
              <a:rPr lang="en-US" altLang="en-US" sz="4000" b="1" dirty="0"/>
              <a:t>Project overview:</a:t>
            </a:r>
            <a:endParaRPr lang="en-US" altLang="en-US" sz="1200" b="1" dirty="0"/>
          </a:p>
          <a:p>
            <a:pPr marL="0" indent="0">
              <a:buNone/>
            </a:pPr>
            <a:endParaRPr lang="en-US" altLang="en-US" sz="1200" b="1" dirty="0"/>
          </a:p>
          <a:p>
            <a:r>
              <a:rPr lang="en-US" sz="2800" dirty="0"/>
              <a:t>This project analyzes the gain, noise, and power consumption of </a:t>
            </a:r>
            <a:r>
              <a:rPr lang="en-US" sz="2800" dirty="0" err="1"/>
              <a:t>cascode</a:t>
            </a:r>
            <a:r>
              <a:rPr lang="en-US" sz="2800" dirty="0"/>
              <a:t> current mirrors.</a:t>
            </a:r>
          </a:p>
          <a:p>
            <a:r>
              <a:rPr lang="en-US" altLang="en-US" sz="2800" b="1" dirty="0"/>
              <a:t>Low Output Resistance </a:t>
            </a:r>
            <a:r>
              <a:rPr lang="en-US" altLang="en-US" sz="2400" dirty="0"/>
              <a:t>– The output current varies with changes in output voltage, so it is not very stable.</a:t>
            </a:r>
          </a:p>
          <a:p>
            <a:r>
              <a:rPr lang="en-US" altLang="en-US" sz="2800" b="1" dirty="0"/>
              <a:t>Poor Accuracy </a:t>
            </a:r>
            <a:r>
              <a:rPr lang="en-US" altLang="en-US" sz="2400" dirty="0"/>
              <a:t>– Mismatch and voltage drops cause the mirrored current to be different from the reference current.</a:t>
            </a:r>
          </a:p>
          <a:p>
            <a:r>
              <a:rPr lang="en-US" altLang="en-US" sz="2800" b="1" dirty="0"/>
              <a:t>Limited Voltage </a:t>
            </a:r>
            <a:r>
              <a:rPr lang="en-US" altLang="en-US" sz="2400" dirty="0"/>
              <a:t>– Needs higher supply voltage to work properly, which is not suitable for modern low-voltage circuits.</a:t>
            </a:r>
          </a:p>
          <a:p>
            <a:pPr marL="0" indent="0">
              <a:buNone/>
            </a:pPr>
            <a:endParaRPr lang="en-US" altLang="en-US" sz="3600" b="1" dirty="0"/>
          </a:p>
          <a:p>
            <a:pPr marL="0" indent="0"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B5E7-8BCB-EEAE-3B27-76A63A1E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46" y="952953"/>
            <a:ext cx="10804850" cy="5503831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cascode</a:t>
            </a:r>
            <a:r>
              <a:rPr lang="en-US" dirty="0"/>
              <a:t> current mirror is an enhanced version of a basic current mirror.</a:t>
            </a:r>
            <a:endParaRPr lang="en-IN" dirty="0"/>
          </a:p>
          <a:p>
            <a:r>
              <a:rPr lang="en-US" altLang="en-US" dirty="0"/>
              <a:t>Current mirrors are vital in analog circuits for biasing and signal processing.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dirty="0"/>
              <a:t>Simple current mirrors face issues like low output resistance, poor accuracy, and current mismatch.</a:t>
            </a:r>
            <a:endParaRPr lang="en-US" altLang="en-US" sz="1100" dirty="0"/>
          </a:p>
          <a:p>
            <a:endParaRPr lang="en-US" altLang="en-US" sz="1100" dirty="0"/>
          </a:p>
          <a:p>
            <a:r>
              <a:rPr lang="en-US" altLang="en-US" dirty="0" err="1"/>
              <a:t>Cascode</a:t>
            </a:r>
            <a:r>
              <a:rPr lang="en-US" altLang="en-US" dirty="0"/>
              <a:t> current mirrors improve accuracy, efficiency, and are suitable for modern low-power, high-precision designs.</a:t>
            </a:r>
          </a:p>
        </p:txBody>
      </p:sp>
    </p:spTree>
    <p:extLst>
      <p:ext uri="{BB962C8B-B14F-4D97-AF65-F5344CB8AC3E}">
        <p14:creationId xmlns:p14="http://schemas.microsoft.com/office/powerpoint/2010/main" val="171820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5D38-B874-8005-3D99-19D19455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Block diagram:</a:t>
            </a:r>
            <a:endParaRPr lang="en-IN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6B64E7-1D07-C8A2-DE73-3A00405674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99" y="1013667"/>
            <a:ext cx="10120602" cy="5275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63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9284"/>
            <a:ext cx="10972800" cy="56384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Circuit diagram: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26" y="1396793"/>
            <a:ext cx="4946152" cy="372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988" y="2287129"/>
            <a:ext cx="5667673" cy="3836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51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70535"/>
            <a:ext cx="10972800" cy="617728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 dirty="0"/>
              <a:t> Objectives:</a:t>
            </a:r>
          </a:p>
          <a:p>
            <a:endParaRPr lang="en-US" altLang="en-US" sz="2400" dirty="0"/>
          </a:p>
          <a:p>
            <a:r>
              <a:rPr lang="en-US" altLang="en-US" sz="2800" dirty="0"/>
              <a:t>Simple current mirrors have low output resistance and poor accuracy.</a:t>
            </a:r>
          </a:p>
          <a:p>
            <a:r>
              <a:rPr lang="en-US" altLang="en-US" sz="2800" dirty="0" err="1"/>
              <a:t>Cascode</a:t>
            </a:r>
            <a:r>
              <a:rPr lang="en-US" altLang="en-US" sz="2800" dirty="0"/>
              <a:t> current mirrors improve current matching and minimize channel-length modulation effects.</a:t>
            </a:r>
          </a:p>
          <a:p>
            <a:r>
              <a:rPr lang="en-US" altLang="en-US" sz="2800" dirty="0"/>
              <a:t>They provide higher gain and better performance for analog circuits.</a:t>
            </a:r>
          </a:p>
          <a:p>
            <a:r>
              <a:rPr lang="en-US" altLang="en-US" sz="2800" dirty="0"/>
              <a:t>Simulation helps in analyzing output resistance, voltage headroom, and power efficiency.</a:t>
            </a:r>
          </a:p>
          <a:p>
            <a:r>
              <a:rPr lang="en-US" altLang="en-US" sz="2800" dirty="0"/>
              <a:t>Different </a:t>
            </a:r>
            <a:r>
              <a:rPr lang="en-US" altLang="en-US" sz="2800" dirty="0" err="1"/>
              <a:t>cascode</a:t>
            </a:r>
            <a:r>
              <a:rPr lang="en-US" altLang="en-US" sz="2800" dirty="0"/>
              <a:t> configurations can be compared for design trade-offs in practical applications.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939" y="894830"/>
            <a:ext cx="10279224" cy="533801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000" b="1" dirty="0"/>
              <a:t>Methodology:</a:t>
            </a:r>
          </a:p>
          <a:p>
            <a:endParaRPr lang="en-US" altLang="en-US" sz="2400" dirty="0"/>
          </a:p>
          <a:p>
            <a:r>
              <a:rPr lang="en-US" altLang="en-US" sz="2400" dirty="0"/>
              <a:t>Design simple and </a:t>
            </a:r>
            <a:r>
              <a:rPr lang="en-US" altLang="en-US" sz="2400" dirty="0" err="1"/>
              <a:t>cascode</a:t>
            </a:r>
            <a:r>
              <a:rPr lang="en-US" altLang="en-US" sz="2400" dirty="0"/>
              <a:t> current mirror configurations.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Set Conditions → VDD = 1.8 V, IREF = 100 µA, CMOS process models</a:t>
            </a:r>
          </a:p>
          <a:p>
            <a:endParaRPr lang="en-US" altLang="en-US" sz="2400" dirty="0"/>
          </a:p>
          <a:p>
            <a:r>
              <a:rPr lang="en-US" altLang="en-US" sz="2400" dirty="0"/>
              <a:t>Variation Analysis → Test at different temperatures and process corners.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Compare results of </a:t>
            </a:r>
            <a:r>
              <a:rPr lang="en-US" altLang="en-US" sz="2400" dirty="0" err="1"/>
              <a:t>cascode</a:t>
            </a:r>
            <a:r>
              <a:rPr lang="en-US" altLang="en-US" sz="2400" dirty="0"/>
              <a:t> vs. simple mirrors for efficiency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0585-E798-1C0F-DE31-1F65AADD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48678"/>
            <a:ext cx="10972800" cy="3879072"/>
          </a:xfrm>
        </p:spPr>
        <p:txBody>
          <a:bodyPr/>
          <a:lstStyle/>
          <a:p>
            <a:pPr marL="0" indent="0">
              <a:buNone/>
            </a:pPr>
            <a:r>
              <a:rPr lang="en-US" sz="7200" dirty="0"/>
              <a:t>          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576906998"/>
      </p:ext>
    </p:extLst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295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 Antiqua</vt:lpstr>
      <vt:lpstr>Calibri Light</vt:lpstr>
      <vt:lpstr>Gear Drives</vt:lpstr>
      <vt:lpstr>PowerPoint Presentation</vt:lpstr>
      <vt:lpstr>PowerPoint Presentation</vt:lpstr>
      <vt:lpstr>PowerPoint Presentation</vt:lpstr>
      <vt:lpstr>Block diagram: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DANDELIONS</dc:creator>
  <cp:lastModifiedBy>Hemanth Narayanadas</cp:lastModifiedBy>
  <cp:revision>9</cp:revision>
  <dcterms:created xsi:type="dcterms:W3CDTF">2025-08-20T16:11:39Z</dcterms:created>
  <dcterms:modified xsi:type="dcterms:W3CDTF">2025-09-25T08:10:03Z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A83C09E75B9345E2B72B3472B0A35701_13</vt:lpwstr>
  </property>
  <property fmtid="{D5CDD505-2E9C-101B-9397-08002B2CF9AE}" pid="3" name="KSOProductBuildVer">
    <vt:lpwstr>1033-12.2.0.21931</vt:lpwstr>
  </property>
</Properties>
</file>